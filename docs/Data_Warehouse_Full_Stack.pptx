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1097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0">
                <a:solidFill>
                  <a:srgbClr val="F8FAFC"/>
                </a:solidFill>
              </a:defRPr>
            </a:pPr>
            <a: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8FAFC"/>
                </a:solidFill>
              </a:defRPr>
            </a:pPr>
            <a:r>
              <a:t>Modern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82F6"/>
                </a:solidFill>
              </a:defRPr>
            </a:pPr>
            <a:r>
              <a:t>Full Stack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Complete Architecture &amp; Implementation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•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5303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• dbt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5303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• Airbyte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303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• 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303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• AI/GPT-4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5303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• OPA/OPAL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📋 Agenda (60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0:00 - 0:05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🎯  Introduction &amp;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0:05 - 0:15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🏗️  Architecture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0:15 - 0:25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🔄  Data Pipeline: Source → 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0:25 - 0:35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📊  Analytics: Dashboards &amp;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0:35 - 0:45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🔐  Security &amp;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0:45 - 0:55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💻  Live Demo &amp;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0:55 - 1:00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❓  Q&amp;A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8FAFC"/>
                </a:solidFill>
              </a:defRPr>
            </a:pPr>
            <a:r>
              <a:t>Introduction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🔄 Traditional vs Modern Data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</a:defRPr>
            </a:pPr>
            <a:r>
              <a:t>Traditional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❌ Monolithic ETL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❌ On-premise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❌ SQL-only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❌ Static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❌ Manual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Modern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✅ Modular, best-of-breed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✅ Cloud-native &amp; containerized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✅ SQL + AI/ML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✅ Interactive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✅ Policy-as-code authorization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🏗️ Our Data Warehouse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698480" cy="530352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9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       Modern Data Warehouse Stack   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├───────────────────────────────────────────────────────────────┤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                                    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┌──────────┐    ┌──────────┐    ┌──────────┐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│SQL Server│───►│ Airbyte  │───►│PostgreSQL│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│Adventure │    │   (EL)   │    │  (DWH)   │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│  Works   │    │          │    │          │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└──────────┘    └──────────┘    └────┬─────┘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                           │       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                  ┌────────▼────────┐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                  │       dbt       │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                  │  (Transform)    │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                  └────────┬────────┘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                           │                   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┌──────────────────────────┼──────────────────┐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│                          │       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┌───────▼───────┐          ┌──────▼──────┐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│   Streamlit   │          │  dbt Docs   │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│  + AI Assist  │          │  (Catalog)  │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└───────┬───────┘          └─────────────┘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        │                                  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┌───────▼───────┐                         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│   OPA/OPAL    │                         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│  (Security)   │                         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│    └───────────────┘                                    │   │</a:t>
            </a:r>
          </a:p>
          <a:p>
            <a:pPr>
              <a:defRPr sz="900">
                <a:solidFill>
                  <a:srgbClr val="A6E3A1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🛠️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🗄️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SQL Server + AdventureWorks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Enterprise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Extract/Load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Airbyte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Data ingestion (300+ connectors)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377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PostgreSQL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774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Data warehouse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dbt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SQL-based ELT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Streamlit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Interactive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OpenAI GPT-4 / Claude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Natural language queries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377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9377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OPA + OPAL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937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Policy-based access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Docker 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Container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💡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For Data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⚡ Fast Setup - hours, not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🔄 Modern ELT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📊 Self-Service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For Business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🤖 AI Analytics - ask 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📈 Real-time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🔐 Secure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For IT/Engineering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🐳 Containerized - easy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📝 Code-based - version controlled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🔌 Modular - swap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8FAFC"/>
                </a:solidFill>
              </a:defRPr>
            </a:pPr>
            <a: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🏛️ High-Level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05840"/>
            <a:ext cx="9418320" cy="530352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0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Data Sources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┌────────────────────┐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│ SQL Server, APIs..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└─────────┬──────────┘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▼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┌────────────────────┐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│   Airbyte (EL)     │  ← Extract &amp; Load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└─────────┬──────────┘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▼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┌────────────────────┐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│    PostgreSQL      │  ← Storage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└─────────┬──────────┘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▼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┌────────────────────┐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│   dbt (Transform)  │  ← staging → marts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└─────────┬──────────┘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┌───────────────────┼───────────────────┐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│                   │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▼                   ▼                   ▼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┌───────────┐       ┌───────────┐       ┌───────────┐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Streamlit │       │ dbt Docs  │       │ OPA/OPAL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Dashboard │       │ (Catalog) │       │ (Security)│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└───────────┘       └───────────┘       └───────────┘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🔌 Service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88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5432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data_warehouse_postgres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Data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8501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data_warehouse_streamlit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Dashboard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dbt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8080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data_warehouse_dbt_docs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Data 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SQL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1433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data_warehouse_sqlserver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Source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Airbyte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023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8000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airbyte-abctl-*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Data 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617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OPA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617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8181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opal-opa-standalone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Policy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OPAL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7002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opal-server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Policy 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🔄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Source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SQL Server with AdventureWorks: HR, Production, Purchasing,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Extract &amp;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Airbyte: Full refresh or incremental sync, schema auto-detection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dbt: Raw → Staging → Intermediate → Marts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19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19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Consume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8639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Streamlit dashboards + AI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8FAFC"/>
                </a:solidFill>
              </a:defRPr>
            </a:pPr>
            <a:r>
              <a:t>Data Pipeline: Source →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📦 Data Source: AdventureWorks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Microsoft's sample enterprise database - a fictional bicycle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HumanResources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Employee, Department, JobCandidate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Product, WorkOrder, BillOfMaterials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Purchasing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Vendor, PurchaseOrderHeader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Customer, SalesOrderHeader, Territory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937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Person, Address, EmailAddress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🔄 Data Ingestion: Airbyte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300+ Connectors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Pre-built source/destination connectors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Incremental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Only sync changed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Schema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Auto-detect and evolve schemas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No vendor lock-in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Sync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Full Refresh - Complete replacement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Incremental - Append new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CDC - Change Data Capture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⚙️ Data Transformation: dbt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data build tool - Transform data using SQL + software engineering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SQL-based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Write transformations in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Automatic dependency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Built-in data quality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Auto-generated data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</a:defRPr>
            </a:pPr>
            <a: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Incremental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Process only new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📊 dbt Model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502920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0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             dbt Project Layers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├───────────────────────────────────────────────────────────────┤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            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┌───────────┐      ┌───────────────┐      ┌─────────────┐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 Staging  │      │ Intermediate  │      │    Marts    │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 (88 SQL) │ ──►  │   dim + fact  │ ──►  │ (5 tables)  │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          │      │               │      │             │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 stg_*    │      │  dim_customer │      │ mart_sales  │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 (views)  │      │  dim_product  │      │ mart_ops    │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          │      │  fact_sales   │      │ mart_hr     │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└───────────┘      └───────────────┘      └─────────────┘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            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Purpose:           Purpose:              Purpose: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Clean raw data     Business entities     Analytics-ready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Rename columns     Relationships         Denormalized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Cast types         Calculated metrics    Self-service BI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            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📈 dbt Analytics Marts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Grain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Key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mart_sales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Order line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Revenue, territories,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mart_customer_analytics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CLV, segmentation, 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mart_product_analytics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Profitability,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mart_operations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566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Order (PO/WO)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661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Vendor performance,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6B6D4"/>
                </a:solidFill>
              </a:defRPr>
            </a:pPr>
            <a:r>
              <a:t>mart_employee_performance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Employee/period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Quotas, territories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Analytics 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 CLV • ✅ RFM Segmentation • ✅ Churn Prediction • ✅ Inventory Optimization • ✅ Territory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8FAFC"/>
                </a:solidFill>
              </a:defRPr>
            </a:pPr>
            <a:r>
              <a:t>Analytics: Dashboards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📊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KPIs, revenue trends, geographic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AI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Natural language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Sales &amp;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Territory performance, CLV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Product &amp;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Stock levels, turnover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Customer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Segmentation, churn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HR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Employee performance, quotas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Vendor metrics,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🛡️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OPAL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Authorization demonstration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🤖 AI Analytics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B82F6"/>
                </a:solidFill>
              </a:defRPr>
            </a:pPr>
            <a:r>
              <a:t>Natural Language to SQL powered by GPT-4 / Claude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229600" cy="438912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1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User: "What is our revenue by territory?"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▼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│          AI Processing 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│  1. Parse natural language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│  2. Match to schema context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│  3. Generate SQL query 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│  4. Validate for safety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│  5. Execute against database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│  6. Auto-visualize results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└──────────────────────────────────────┘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▼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SQL: SELECT territory_name, SUM(order_total)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FROM mart_sales GROUP BY territory_name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▼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📊 [Auto-generated bar chart]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🧠 AI Assistant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schema_context.py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Load table schemas, metrics, column 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sql_generator.py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Build prompts, call LLM API, generate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sql_validator.py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Validate safety: SELECT only, whitelist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visualizer.py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Auto-detect chart type, format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🔄 Auto-Sync with dbt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Running ./run_dbt.sh run auto-generates schema_ai.md and allowed_tables.json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🔒 AI Safety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SELECT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No INSERT, UPDATE, DELETE,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Table Whitelist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Only query allowed mart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Auto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Prevent huge result sets (max 1000)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No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Block SQL injection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No DDL operations allowed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8FAFC"/>
                </a:solidFill>
              </a:defRPr>
            </a:pPr>
            <a:r>
              <a:t>Security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🔐 Why Policy-Based Access Control?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Traditional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🔓 Hard-coded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😰 Scattered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📝 No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🔄 Changes require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Policy-as-Code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📝 Declarative - readable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🔐 Centralized - single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📊 Auditable - track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⚡ Real-time - no deploys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🛡️ OPA + OPAL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05840"/>
            <a:ext cx="9144000" cy="512064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0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     Policy Management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├────────────────────────────────────────────────────┤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 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┌──────────────┐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│Git Repository│ ← Policies (Rego) + Data (JSON)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└──────┬───────┘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│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▼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┌──────────────┐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OPAL Server  │ ← Watches changes, pushes updates│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└──────┬───────┘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│ WebSocket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▼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┌──────────────┐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OPAL Client  │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 + OPA Engine│ ← Evaluates policies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└──────┬───────┘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│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       ▼ 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┌──────────────┐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│ Applications │ ← Streamlit, APIs...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│  └──────────────┘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👥 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•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Full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• data_engineer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All data + 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•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Read marts,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• 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Limited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• executive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All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• sales_manager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Sales +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• hr_manager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Employee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• operations_manager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Inventory + production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📊 Dashboard Access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B82F6"/>
                </a:solidFill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Exec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💰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👔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⚙️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👥 Customer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📦 Inventory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🤖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6596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6988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F4444"/>
                </a:solidFill>
              </a:defRPr>
            </a:pPr>
            <a:r>
              <a:t>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8FAFC"/>
                </a:solidFill>
              </a:defRPr>
            </a:pPr>
            <a:r>
              <a:t>Live Demo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🚀 Starting the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058400" cy="502920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200">
                <a:solidFill>
                  <a:srgbClr val="A6E3A1"/>
                </a:solidFill>
                <a:latin typeface="Consolas"/>
              </a:defRPr>
            </a:pPr>
            <a:r>
              <a:t># One command to start everything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./start.sh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What happens: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Step 1: PostgreSQL (port 5432)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Step 2: Streamlit (port 8501)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Step 3: dbt-docs (port 8080)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Step 4: SQL Server (port 1433)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Step 5: AdventureWorks installation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Step 6: Airbyte (port 8000)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Step 7: OPAL/OPA (port 8181)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Service URLs: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📊 PostgreSQL     localhost:5432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📈 Streamlit      http://localhost:8501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📚 dbt Docs       http://localhost:8080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🔄 Airbyte        http://localhost:8000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🔐 OPA            http://localhost:8181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💻 Useful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Docker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8686800" cy="54864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100">
                <a:solidFill>
                  <a:srgbClr val="A6E3A1"/>
                </a:solidFill>
                <a:latin typeface="Consolas"/>
              </a:defRPr>
            </a:pPr>
            <a:r>
              <a:t>docker-compose ps | docker-compose logs -f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dbt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03120"/>
            <a:ext cx="8686800" cy="54864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100">
                <a:solidFill>
                  <a:srgbClr val="A6E3A1"/>
                </a:solidFill>
                <a:latin typeface="Consolas"/>
              </a:defRPr>
            </a:pPr>
            <a:r>
              <a:t>./run_dbt.sh run | ./run_dbt.sh test | ./run_dbt.sh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Airbyte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017520"/>
            <a:ext cx="8686800" cy="54864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100">
                <a:solidFill>
                  <a:srgbClr val="A6E3A1"/>
                </a:solidFill>
                <a:latin typeface="Consolas"/>
              </a:defRPr>
            </a:pPr>
            <a:r>
              <a:t>abctl local status | abctl local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OPAL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931920"/>
            <a:ext cx="8686800" cy="54864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100">
                <a:solidFill>
                  <a:srgbClr val="A6E3A1"/>
                </a:solidFill>
                <a:latin typeface="Consolas"/>
              </a:defRPr>
            </a:pPr>
            <a:r>
              <a:t>./setup.sh status | ./setup.sh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846320"/>
            <a:ext cx="8686800" cy="54864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100">
                <a:solidFill>
                  <a:srgbClr val="A6E3A1"/>
                </a:solidFill>
                <a:latin typeface="Consolas"/>
              </a:defRPr>
            </a:pPr>
            <a:r>
              <a:t>./stop.sh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8FAFC"/>
                </a:solidFill>
              </a:defRPr>
            </a:pPr>
            <a:r>
              <a:t>Q&amp;A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5 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🎯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Modern Data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Modular, best-of-breed components; ELT &gt; 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Airbyte → PostgreSQL → dbt (staging → marts)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Streamlit dashboards + AI Assistant with auto-sync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800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OPA/OPAL policy-as-code with RBAC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✅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dbt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staging → intermediate → marts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dbt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Document all models with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Always validate generated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Default deny, least privilege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Keep policies in 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Use Docker Compose for consistency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🚀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Immediate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Deploy to your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Connect your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Customize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Short-term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Add dbt models for your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Create custom AI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Define access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Long-term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Scale to production (K8s)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Add more data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Data quality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□ CI/CD for dbt models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</a:defRPr>
            </a:pPr>
            <a:r>
              <a:t>📚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Project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/README.md -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/dbt/README.md - dbt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/opal/README.md -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External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docs.getdbt.com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docs.airbyte.com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openpolicyagent.org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Try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4572000" cy="164592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>
              <a:defRPr sz="1200">
                <a:solidFill>
                  <a:srgbClr val="A6E3A1"/>
                </a:solidFill>
                <a:latin typeface="Consolas"/>
              </a:defRPr>
            </a:pPr>
            <a:r>
              <a:t>git clone &lt;repo&gt;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cd data_warehouse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./start.sh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Open http://localhost:8501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3716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0">
                <a:solidFill>
                  <a:srgbClr val="F8FAFC"/>
                </a:solidFill>
              </a:defRPr>
            </a:pPr>
            <a:r>
              <a:t>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560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8FAFC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B82F6"/>
                </a:solidFill>
              </a:defRPr>
            </a:pPr>
            <a:r>
              <a:t>📊 Data-Driven Decisions Made Easy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8FAF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