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0">
                <a:solidFill>
                  <a:srgbClr val="F8FAFC"/>
                </a:solidFill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8FAFC"/>
                </a:solidFill>
              </a:defRPr>
            </a:pPr>
            <a:r>
              <a:t>OPAL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366F1"/>
                </a:solidFill>
              </a:defRPr>
            </a:pPr>
            <a:r>
              <a:t>in Data Warehouse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94A3B8"/>
                </a:solidFill>
              </a:defRPr>
            </a:pPr>
            <a:r>
              <a:t>A Comprehensive 1-Hour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Role-Based Access Control • Policy-as-Code • Real-time Updates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📋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0:00 - 0:05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🎯  Introduction &amp;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0:05 - 0:15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65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🏗️  Architecture Deep 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0:15 - 0:25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📚  OPAL &amp; OPA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0:25 - 0:35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337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⚙️  Policy Design &amp;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0:35 - 0:45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💻  Live Demo &amp; Code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0:45 - 0:55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09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🔧  Hands-on Exercise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0:55 - 1:00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❓  Q&amp;A and 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</a:defRPr>
            </a:pPr>
            <a:r>
              <a:t>Introduction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5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🏗️ What We're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A modern data warehouse with enterprise-grade authorization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144000" cy="411480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>
              <a:defRPr sz="11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│                    Streamlit Dashboard         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│  ┌─────────┐ ┌─────────┐ ┌─────────┐ ┌─────────┐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│  │  Sales  │ │   HR    │ │   Ops   │ │   AI    │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│  └────┬────┘ └────┬────┘ └────┬────┘ └────┬────┘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│       └───────────┴───────────┴───────────┘    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│                         │                      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│                    ┌────▼────┐                 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│                    │  OPAL   │  ◄── Policy-based Access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│                    └────┬────┘                 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└─────────────────────────┼───────────────────────────────────┘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                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           ┌─────▼─────┐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           │ PostgreSQL │</a:t>
            </a:r>
          </a:p>
          <a:p>
            <a:pPr>
              <a:defRPr sz="1100">
                <a:solidFill>
                  <a:srgbClr val="A6E3A1"/>
                </a:solidFill>
                <a:latin typeface="Consolas"/>
              </a:defRPr>
            </a:pPr>
            <a:r>
              <a:t>                    └───────────┘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🧩 Project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</a:defRPr>
            </a:pPr>
            <a: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366F1"/>
                </a:solidFill>
              </a:defRPr>
            </a:pPr>
            <a:r>
              <a:t>dbt +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Transform raw data into analytics marts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</a:defRPr>
            </a:pPr>
            <a:r>
              <a:t>🖥️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366F1"/>
                </a:solidFill>
              </a:defRPr>
            </a:pPr>
            <a:r>
              <a:t>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Interactive dashboards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</a:defRPr>
            </a:pPr>
            <a: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Authorization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366F1"/>
                </a:solidFill>
              </a:defRPr>
            </a:pPr>
            <a:r>
              <a:t>OPAL + OPA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Fine-grained 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AI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366F1"/>
                </a:solidFill>
              </a:defRPr>
            </a:pPr>
            <a:r>
              <a:t>OpenAI/Anthropic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Natural language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</a:defRPr>
            </a:pPr>
            <a:r>
              <a:t>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</a:defRPr>
            </a:pPr>
            <a:r>
              <a:t>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366F1"/>
                </a:solidFill>
              </a:defRPr>
            </a:pPr>
            <a:r>
              <a:t>AdventureWorks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Sample enterprise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❓ Why Authorization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•  Different users need different data access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•  Compliance requirements (GDPR, SOC2, HIPAA)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•  Prevent data breaches and unauthorized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•  Audit trail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✓  Centralized policy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✓  Real-time policy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✓  Declarative, auditable 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✓  Separation of policy from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</a:defRPr>
            </a:pPr>
            <a:r>
              <a:t>Architecture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10 minutes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🏛️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612880" cy="502920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>
              <a:defRPr sz="10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┌─────────────────────┐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│   Policy Repository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│   (Git/File System)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└──────────┬──────────┘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┌──────────▼──────────┐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│    OPAL Server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│  (Policy Admin)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└──────────┬──────────┘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┌──────────────────────────────────┼──────────────────────────────────┐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│                                  │  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▼                                  ▼                                   ▼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┌───────────┐                    ┌─────────────┐                    ┌───────────┐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│OPAL Client│                    │ OPAL Client │                    │OPAL Client│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│  + OPA #1 │                    │   + OPA #2  │                    │  + OPA #3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└─────┬─────┘                    └──────┬──────┘                    └─────┬─────┘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│                                 │                             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      ▼                                 ▼                                 ▼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┌───────────┐                    ┌─────────────┐                    ┌───────────┐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│ Streamlit │                    │ API Service │                    │    ETL    │</a:t>
            </a:r>
          </a:p>
          <a:p>
            <a:pPr>
              <a:defRPr sz="1000">
                <a:solidFill>
                  <a:srgbClr val="A6E3A1"/>
                </a:solidFill>
                <a:latin typeface="Consolas"/>
              </a:defRPr>
            </a:pPr>
            <a:r>
              <a:t>└───────────┘                    └─────────────┘                    └───────────┘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🔄 Authorization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</a:defRPr>
            </a:pPr>
            <a: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User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User attempts to access a dashboard or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</a:defRPr>
            </a:pPr>
            <a: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Auth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Application sends authorization query to OPA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</a:defRPr>
            </a:pPr>
            <a:r>
              <a:t>3️⃣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Policy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566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OPA evaluates request against Rego 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</a:defRPr>
            </a:pPr>
            <a:r>
              <a:t>4️⃣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OPA returns allow/deny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</a:defRPr>
            </a:pPr>
            <a:r>
              <a:t>5️⃣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Application shows/hides content based on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</a:defRPr>
            </a:pPr>
            <a:r>
              <a:t>OPAL &amp; OPA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10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🔓 What is OPA?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366F1"/>
                </a:solidFill>
              </a:defRPr>
            </a:pPr>
            <a:r>
              <a:t>Open Policy Agent - A general-purpose policy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Decoupled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Separates policy from application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Declarative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Policies written in Rego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Sub-millisecond policy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Universal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Works with any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Kubernetes admission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API authorization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Data filtering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Feature flags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📡 What is OPAL?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366F1"/>
                </a:solidFill>
              </a:defRPr>
            </a:pPr>
            <a:r>
              <a:t>Open Policy Administration Layer - Policy distribution &amp; data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Real-time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Push policy changes instantly to all OPA instances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Data Synchronization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Keep authorization data in sync across clusters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Git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Policies as code with version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Event-driven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WebSocket pub/sub for efficient updates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📜 The Rego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6400800" cy="502920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>
              <a:defRPr sz="1200">
                <a:solidFill>
                  <a:srgbClr val="A6E3A1"/>
                </a:solidFill>
                <a:latin typeface="Consolas"/>
              </a:defRPr>
            </a:pPr>
            <a:r>
              <a:t># Package declaration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package datawarehouse.authz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Default deny - secure by default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default allow := false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Rule: Allow if user has matching permission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allow if {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some role in user_roles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some permission in data.roles[role].permissions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permission_matches(permission, input.action, input.resource)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}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Helper: Check permission match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permission_matches(permission, action, resource) if {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permission.action == action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permission.resource == resource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Key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6F1"/>
                </a:solidFill>
              </a:defRPr>
            </a:pPr>
            <a:r>
              <a:t>Rules: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Boolean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774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6F1"/>
                </a:solidFill>
              </a:defRPr>
            </a:pPr>
            <a:r>
              <a:t>Input: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Request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6F1"/>
                </a:solidFill>
              </a:defRPr>
            </a:pPr>
            <a:r>
              <a:t>Data: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External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6575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6F1"/>
                </a:solidFill>
              </a:defRPr>
            </a:pPr>
            <a:r>
              <a:t>Sets: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6575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Unique collections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</a:defRPr>
            </a:pPr>
            <a:r>
              <a:t>Policy Design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10 minutes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👥 User &amp; Role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943600" cy="502920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>
              <a:defRPr sz="1300">
                <a:solidFill>
                  <a:srgbClr val="A6E3A1"/>
                </a:solidFill>
                <a:latin typeface="Consolas"/>
              </a:defRPr>
            </a:pPr>
            <a:r>
              <a:t>{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"users": {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"admin@company.com": {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  "name": "System Administrator",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  "roles": ["admin"]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"senior.analyst@company.com": {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  "name": "Senior Data Analyst",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  "roles": ["analyst"]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"sales.manager.west@company.com": {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  "name": "Sales Manager - West",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  "roles": ["sales_manager"],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  "territories": ["1", "2", "3"]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}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Users identified by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Each user has one or more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834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Additional attributes (territories, departments)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83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Active/inactive status for access 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🔑 Role Permissions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6400800" cy="530352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>
              <a:defRPr sz="1200">
                <a:solidFill>
                  <a:srgbClr val="A6E3A1"/>
                </a:solidFill>
                <a:latin typeface="Consolas"/>
              </a:defRPr>
            </a:pPr>
            <a:r>
              <a:t>{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"roles": {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"admin": {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"permissions": [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{"action": "*", "resource": "*"}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]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"analyst": {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"permissions": [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{"action": "read", "resource": "mart_*"},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{"action": "view", "resource": "dashboard.sales"},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{"action": "view", "resource": "dashboard.ai_assistant"},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{"action": "export", "resource": "mart_*"}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]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"viewer": {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"permissions": [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{"action": "read", "resource": "mart_*"},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{"action": "view", "resource": "dashboard.sales"}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]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}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}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Permission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6F1"/>
                </a:solidFill>
              </a:defRPr>
            </a:pPr>
            <a: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Access table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6F1"/>
                </a:solidFill>
              </a:defRPr>
            </a:pPr>
            <a:r>
              <a:t>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Access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8346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6F1"/>
                </a:solidFill>
              </a:defRPr>
            </a:pPr>
            <a:r>
              <a:t>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834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Download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383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6F1"/>
                </a:solidFill>
              </a:defRPr>
            </a:pPr>
            <a:r>
              <a:t>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383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Modify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366F1"/>
                </a:solidFill>
              </a:defRPr>
            </a:pPr>
            <a:r>
              <a:t>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Wildcard (all)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📊 Dashboard Access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366F1"/>
                </a:solidFill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188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Executive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188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188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188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💰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645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645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45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45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645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645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1645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👔 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⚙️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566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👥 Customer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566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566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566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566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566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566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3566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📦 Inventory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4206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4846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🤖 AI Assistant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4846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4846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6320" y="4846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4846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4846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4846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4846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Each role has different access levels based on job function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⚙️ RBAC Policy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502920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>
              <a:defRPr sz="1300">
                <a:solidFill>
                  <a:srgbClr val="A6E3A1"/>
                </a:solidFill>
                <a:latin typeface="Consolas"/>
              </a:defRPr>
            </a:pPr>
            <a:r>
              <a:t># Dashboard-specific access rules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# Sales dashboard - multiple roles allowed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allow if {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input.action == "view"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input.resource == "dashboard.sales"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{"sales_manager", "executive", "analyst", "viewer"} &amp; user_roles != set()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}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# HR dashboard - restricted access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allow if {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input.action == "view"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input.resource == "dashboard.hr"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{"hr_manager", "executive"} &amp; user_roles != set()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}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# AI Assistant - power users only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allow if {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input.action == "view"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input.resource == "dashboard.ai_assistant"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    {"analyst", "data_engineer", "executive"} &amp; user_roles != set()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</a:defRPr>
            </a:pPr>
            <a:r>
              <a:t>Live Demo &amp; 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10 minutes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🖥️ Live Demo: OPAL Authorization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What We'll See: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Profile Switching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Different users see different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Dashboard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Visual access/denied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3️⃣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Export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Data export restrictions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</a:defRPr>
            </a:pPr>
            <a:r>
              <a:t>4️⃣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t>Permissions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297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Full access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</a:defRPr>
            </a:pPr>
            <a:r>
              <a:t>Key Observations: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Junior Analyst: Limited to Sales, Ops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Sales Manager: No HR or Operations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HR Director: Only sees HR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 Admin: Full access to everything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💻 Code: OPAL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530352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>
              <a:defRPr sz="1200">
                <a:solidFill>
                  <a:srgbClr val="A6E3A1"/>
                </a:solidFill>
                <a:latin typeface="Consolas"/>
              </a:defRPr>
            </a:pPr>
            <a:r>
              <a:t>class OPALClient: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def __init__(self, opa_url=None):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self.opa_url = opa_url or 'http://localhost:8181'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def authorize(self, user: str, action: str, resource: str) -&gt; bool: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"""Check authorization via OPA."""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response = httpx.post(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    f"{self.opa_url}/v1/data/datawarehouse/authz/allow",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    json={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        "input": {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            "user": user,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            "action": action,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            "resource": resource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        }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    }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)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return response.json().get("result", False)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# Usage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client = OPALClient()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if client.authorize("analyst@co.com", "view", "dashboard.sales"):</a:t>
            </a:r>
          </a:p>
          <a:p>
            <a:pPr>
              <a:defRPr sz="1200">
                <a:solidFill>
                  <a:srgbClr val="A6E3A1"/>
                </a:solidFill>
                <a:latin typeface="Consolas"/>
              </a:defRPr>
            </a:pPr>
            <a:r>
              <a:t>    show_dashboard()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</a:defRPr>
            </a:pPr>
            <a:r>
              <a:t>Hands-on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10 minutes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🔧 Hands-on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Task: Add a New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Create a "finance_analyst" role that can: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✓  View Sales and Customer Analytics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t>✓  Export sales data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F4444"/>
                </a:solidFill>
              </a:defRPr>
            </a:pPr>
            <a:r>
              <a:t>✗  Cannot access HR or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1. Add role to opal/data/roles.json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2. Add user to opal/data/users.json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3. Update streamlit/pages/opal_demo.py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4. Test the new role in the demo page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</a:defRPr>
            </a:pPr>
            <a:r>
              <a:t>Q&amp;A and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⏱️ 5 minutes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🎯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</a:defRPr>
            </a:pPr>
            <a: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Separation of Concerns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Policy logic separate from application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</a:defRPr>
            </a:pPr>
            <a: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Declarative Policies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Rego is expressive, readable, and auditable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</a:defRPr>
            </a:pPr>
            <a:r>
              <a:t>3️⃣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Real-time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OPAL pushes policy changes instantly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FAFC"/>
                </a:solidFill>
              </a:defRPr>
            </a:pPr>
            <a:r>
              <a:t>4️⃣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Defense in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UI + server-side + row-level security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✅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•  Default Deny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Start with default allow :=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•  Least Privilege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Only grant necessary 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•  Audit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Track all authorization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•  Test Policies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Use OPA's built-in testing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•  Version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Keep policies in 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•  Fail 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Deny access on errors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</a:defRPr>
            </a:pPr>
            <a:r>
              <a:t>📚 Resources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OPA Documentation: openpolicyagent.org/docs/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OPAL GitHub: github.com/permitio/opal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Rego Playground: play.openpolicyagent.org/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Project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opal/policies/rbac.rego - Main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opal/data/*.json - Users, roles, permissions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• streamlit/pages/opal_demo.py - Demo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Try It Yourself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5029200" cy="1828800"/>
          </a:xfrm>
          <a:prstGeom prst="roundRect">
            <a:avLst/>
          </a:prstGeom>
          <a:solidFill>
            <a:srgbClr val="1E1E2E"/>
          </a:solidFill>
          <a:ln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>
              <a:defRPr sz="1300">
                <a:solidFill>
                  <a:srgbClr val="A6E3A1"/>
                </a:solidFill>
                <a:latin typeface="Consolas"/>
              </a:defRPr>
            </a:pPr>
            <a:r>
              <a:t>cd data_warehouse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./start.sh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# Navigate to http://localhost:8501</a:t>
            </a:r>
          </a:p>
          <a:p>
            <a:pPr>
              <a:defRPr sz="1300">
                <a:solidFill>
                  <a:srgbClr val="A6E3A1"/>
                </a:solidFill>
                <a:latin typeface="Consolas"/>
              </a:defRPr>
            </a:pPr>
            <a:r>
              <a:t># Select "OPAL Authorization Demo"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13716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0">
                <a:solidFill>
                  <a:srgbClr val="F8FAFC"/>
                </a:solidFill>
              </a:defRPr>
            </a:pPr>
            <a:r>
              <a:t>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5603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8FAFC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366F1"/>
                </a:solidFill>
              </a:defRPr>
            </a:pPr>
            <a:r>
              <a:t>🛡️ Secure Data, Happy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8FAFC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